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1728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78BDA-2681-642C-61DE-92BB2290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742F3-9804-CFE4-CD37-49D7FAE7A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EAD24-769B-0A3D-7BBF-F477C407B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F7AE0-9509-D440-C937-91F22D265E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27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6338-A8F8-2D11-2122-D8EE90976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449D0-FCEB-2937-2A21-5241F541C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A73AB-B33A-F50A-7C32-CFAB397A0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2EB99-8B1B-7CE7-A647-8C88C583EC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108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CB545-F7A3-843E-6DD1-D024AFF4F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77728B-5C4B-FB1C-00BD-0557AC806F29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DC1E771-E0B0-C417-D25E-3C868EEE73B1}"/>
              </a:ext>
            </a:extLst>
          </p:cNvPr>
          <p:cNvSpPr/>
          <p:nvPr/>
        </p:nvSpPr>
        <p:spPr>
          <a:xfrm>
            <a:off x="45720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DOCUMENTATION TECHNIQUE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A67475-1E07-726A-B214-012242AE0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61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BD3D9-6047-DB03-DEC0-3C3E69301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1CA5B1-E93C-5FD6-6866-01BC3EA00B87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1994166-BBB2-3C35-1DBD-B1ACE02A7165}"/>
              </a:ext>
            </a:extLst>
          </p:cNvPr>
          <p:cNvSpPr/>
          <p:nvPr/>
        </p:nvSpPr>
        <p:spPr>
          <a:xfrm>
            <a:off x="45720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DOCUMENTATION TECHNIQUE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AD85C-2CEB-06F3-4722-B60D542B8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94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1B3A5C">
              <a:alpha val="6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4F8EFF">
              <a:alpha val="40000"/>
            </a:srgbClr>
          </a:solidFill>
          <a:ln w="12700">
            <a:solidFill>
              <a:srgbClr val="4F8E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5720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280160"/>
            <a:ext cx="594360" cy="59436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371600"/>
            <a:ext cx="594360" cy="5943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57200" y="1097280"/>
            <a:ext cx="3108960" cy="347472"/>
          </a:xfrm>
          <a:prstGeom prst="roundRect">
            <a:avLst>
              <a:gd name="adj" fmla="val 10526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5720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DOCUMENTATION TECHNIQUE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457200" y="16459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d'un Serveur WEB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24231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Microsoft Exchange Server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457200" y="3337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hybride on-premise · Cloudflare Edge · OVH VPS · WireGuard VPN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840480"/>
            <a:ext cx="4114800" cy="22860"/>
          </a:xfrm>
          <a:prstGeom prst="rect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7200" y="3977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C"/>
                </a:solidFill>
              </a:rPr>
              <a:t>Edris Ahmad DOST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l'architecture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60520" cy="914400"/>
          </a:xfrm>
          <a:prstGeom prst="rect">
            <a:avLst/>
          </a:prstGeom>
          <a:solidFill>
            <a:srgbClr val="1B2A40"/>
          </a:solidFill>
          <a:ln w="635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618488"/>
            <a:ext cx="502920" cy="50292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618488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55648" y="1554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Datacenter On-Premise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4160520" cy="914400"/>
          </a:xfrm>
          <a:prstGeom prst="rect">
            <a:avLst/>
          </a:prstGeom>
          <a:solidFill>
            <a:srgbClr val="1B2A40"/>
          </a:solidFill>
          <a:ln w="635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2715768"/>
            <a:ext cx="502920" cy="50292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2715768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55648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Web (WordPress)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611880"/>
            <a:ext cx="4160520" cy="914400"/>
          </a:xfrm>
          <a:prstGeom prst="rect">
            <a:avLst/>
          </a:prstGeom>
          <a:solidFill>
            <a:srgbClr val="1B2A40"/>
          </a:solidFill>
          <a:ln w="635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6928" y="3813048"/>
            <a:ext cx="502920" cy="50292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6928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3813048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55648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Cloudflare &amp; Zero Trust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892040" y="1417320"/>
            <a:ext cx="4160520" cy="914400"/>
          </a:xfrm>
          <a:prstGeom prst="rect">
            <a:avLst/>
          </a:prstGeom>
          <a:solidFill>
            <a:srgbClr val="1B2A40"/>
          </a:solidFill>
          <a:ln w="635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01768" y="1618488"/>
            <a:ext cx="502920" cy="50292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001768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272" y="1618488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190488" y="1554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Microsoft Exchange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892040" y="2514600"/>
            <a:ext cx="4160520" cy="914400"/>
          </a:xfrm>
          <a:prstGeom prst="rect">
            <a:avLst/>
          </a:prstGeom>
          <a:solidFill>
            <a:srgbClr val="1B2A40"/>
          </a:solidFill>
          <a:ln w="635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001768" y="2715768"/>
            <a:ext cx="502920" cy="50292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001768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05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5272" y="2715768"/>
            <a:ext cx="475488" cy="4754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190488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Passerelle Cloud WireGuard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892040" y="3611880"/>
            <a:ext cx="4160520" cy="914400"/>
          </a:xfrm>
          <a:prstGeom prst="rect">
            <a:avLst/>
          </a:prstGeom>
          <a:solidFill>
            <a:srgbClr val="1B2A40"/>
          </a:solidFill>
          <a:ln w="635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001768" y="3813048"/>
            <a:ext cx="502920" cy="50292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001768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06</a:t>
            </a:r>
            <a:endParaRPr lang="en-US" sz="11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5272" y="3813048"/>
            <a:ext cx="475488" cy="4754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190488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&amp; Solutions Techniques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FF"/>
                </a:solidFill>
              </a:rPr>
              <a:t>01 · LE DATACENTER ON-PREMISE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L'Hôte Physique &amp; la Virtualisation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1325880"/>
          </a:xfrm>
          <a:prstGeom prst="rect">
            <a:avLst/>
          </a:prstGeom>
          <a:solidFill>
            <a:srgbClr val="162233"/>
          </a:solidFill>
          <a:ln w="635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" cy="1325880"/>
          </a:xfrm>
          <a:prstGeom prst="rect">
            <a:avLst/>
          </a:prstGeom>
          <a:solidFill>
            <a:srgbClr val="00B4A2"/>
          </a:solidFill>
          <a:ln w="12700">
            <a:solidFill>
              <a:srgbClr val="00B4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81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FA8CC"/>
                </a:solidFill>
              </a:rPr>
              <a:t>PROCESSEUR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Intel Core i7-12700H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C"/>
                </a:solidFill>
              </a:rPr>
              <a:t>Haute performance multicœur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1371600"/>
            <a:ext cx="4160520" cy="1325880"/>
          </a:xfrm>
          <a:prstGeom prst="rect">
            <a:avLst/>
          </a:prstGeom>
          <a:solidFill>
            <a:srgbClr val="162233"/>
          </a:solidFill>
          <a:ln w="635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371600"/>
            <a:ext cx="54864" cy="1325880"/>
          </a:xfrm>
          <a:prstGeom prst="rect">
            <a:avLst/>
          </a:prstGeom>
          <a:solidFill>
            <a:srgbClr val="00B4A2"/>
          </a:solidFill>
          <a:ln w="12700">
            <a:solidFill>
              <a:srgbClr val="00B4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481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FA8CC"/>
                </a:solidFill>
              </a:rPr>
              <a:t>MÉMOIRE RAM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10328" y="17556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32 GB DDR5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10328" y="2176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C"/>
                </a:solidFill>
              </a:rPr>
              <a:t>Charge concurrente CMS + Mail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4160520" cy="1325880"/>
          </a:xfrm>
          <a:prstGeom prst="rect">
            <a:avLst/>
          </a:prstGeom>
          <a:solidFill>
            <a:srgbClr val="162233"/>
          </a:solidFill>
          <a:ln w="635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80360"/>
            <a:ext cx="54864" cy="1325880"/>
          </a:xfrm>
          <a:prstGeom prst="rect">
            <a:avLst/>
          </a:prstGeom>
          <a:solidFill>
            <a:srgbClr val="00B4A2"/>
          </a:solidFill>
          <a:ln w="12700">
            <a:solidFill>
              <a:srgbClr val="00B4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90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FA8CC"/>
                </a:solidFill>
              </a:rPr>
              <a:t>STOCKAGE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2644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 TB NVMe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3685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C"/>
                </a:solidFill>
              </a:rPr>
              <a:t>Samsung 990 Pro – I/O intensif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880360"/>
            <a:ext cx="4160520" cy="1325880"/>
          </a:xfrm>
          <a:prstGeom prst="rect">
            <a:avLst/>
          </a:prstGeom>
          <a:solidFill>
            <a:srgbClr val="162233"/>
          </a:solidFill>
          <a:ln w="635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880360"/>
            <a:ext cx="54864" cy="1325880"/>
          </a:xfrm>
          <a:prstGeom prst="rect">
            <a:avLst/>
          </a:prstGeom>
          <a:solidFill>
            <a:srgbClr val="00B4A2"/>
          </a:solidFill>
          <a:ln w="12700">
            <a:solidFill>
              <a:srgbClr val="00B4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990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FA8CC"/>
                </a:solidFill>
              </a:rPr>
              <a:t>HYPERVISEUR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10328" y="32644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Type-2 (VMware)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10328" y="3685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C"/>
                </a:solidFill>
              </a:rPr>
              <a:t>VMs isolées Linux &amp; Windows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526280"/>
            <a:ext cx="8503920" cy="384048"/>
          </a:xfrm>
          <a:prstGeom prst="rect">
            <a:avLst/>
          </a:prstGeom>
          <a:solidFill>
            <a:srgbClr val="1B2A40"/>
          </a:solidFill>
          <a:ln w="12700">
            <a:solidFill>
              <a:srgbClr val="1B2A40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81144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68680" y="45720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VM Linux (Apache/Nginx · PHP · MariaDB)   |   VM Windows Server (AD DS · Exchange)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F8EFF"/>
                </a:solidFill>
              </a:rPr>
              <a:t>02 · INFRASTRUCTURE WEB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Stack LAMP/LEMP &amp; WordPress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160520" cy="731520"/>
          </a:xfrm>
          <a:prstGeom prst="rect">
            <a:avLst/>
          </a:prstGeom>
          <a:solidFill>
            <a:srgbClr val="162233"/>
          </a:solidFill>
          <a:ln w="10160">
            <a:solidFill>
              <a:srgbClr val="00C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54864" cy="7315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081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FA8CC"/>
                </a:solidFill>
              </a:rPr>
              <a:t>SERVEUR WEB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6642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Nginx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221992"/>
            <a:ext cx="4160520" cy="731520"/>
          </a:xfrm>
          <a:prstGeom prst="rect">
            <a:avLst/>
          </a:prstGeom>
          <a:solidFill>
            <a:srgbClr val="162233"/>
          </a:solidFill>
          <a:ln w="10160">
            <a:solidFill>
              <a:srgbClr val="4F8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21992"/>
            <a:ext cx="54864" cy="731520"/>
          </a:xfrm>
          <a:prstGeom prst="rect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768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FA8CC"/>
                </a:solidFill>
              </a:rPr>
              <a:t>LANGAGE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5328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PHP 8.4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" y="3090672"/>
            <a:ext cx="4160520" cy="731520"/>
          </a:xfrm>
          <a:prstGeom prst="rect">
            <a:avLst/>
          </a:prstGeom>
          <a:solidFill>
            <a:srgbClr val="162233"/>
          </a:solidFill>
          <a:ln w="10160">
            <a:solidFill>
              <a:srgbClr val="00B4A2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90672"/>
            <a:ext cx="54864" cy="731520"/>
          </a:xfrm>
          <a:prstGeom prst="rect">
            <a:avLst/>
          </a:prstGeom>
          <a:solidFill>
            <a:srgbClr val="00B4A2"/>
          </a:solidFill>
          <a:ln w="12700">
            <a:solidFill>
              <a:srgbClr val="00B4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455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FA8CC"/>
                </a:solidFill>
              </a:rPr>
              <a:t>BASE DE DONNÉES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34015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MariaDB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" y="3959352"/>
            <a:ext cx="4160520" cy="731520"/>
          </a:xfrm>
          <a:prstGeom prst="rect">
            <a:avLst/>
          </a:prstGeom>
          <a:solidFill>
            <a:srgbClr val="162233"/>
          </a:solidFill>
          <a:ln w="1016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959352"/>
            <a:ext cx="54864" cy="731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0142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FA8CC"/>
                </a:solidFill>
              </a:rPr>
              <a:t>CMS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42702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WordPress (/var/www/html)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63440" y="1353312"/>
            <a:ext cx="4160520" cy="3474720"/>
          </a:xfrm>
          <a:prstGeom prst="rect">
            <a:avLst/>
          </a:prstGeom>
          <a:solidFill>
            <a:srgbClr val="1B2A40"/>
          </a:solidFill>
          <a:ln w="635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508760"/>
            <a:ext cx="502920" cy="5029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4068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Architecture du Serveur Web</a:t>
            </a:r>
            <a:endParaRPr lang="en-US" sz="14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176272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38928" y="213969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Système d'exploitation Linux dédié</a:t>
            </a:r>
            <a:endParaRPr lang="en-US" sz="12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65176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38928" y="261518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Répertoire racine : /var/www/html/wordpress</a:t>
            </a:r>
            <a:endParaRPr lang="en-US" sz="12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12724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138928" y="30906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Base de données MariaDB</a:t>
            </a:r>
            <a:endParaRPr lang="en-US" sz="12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602736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38928" y="35661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PHP pour traitement backend dynamique haute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A2"/>
          </a:solidFill>
          <a:ln w="12700">
            <a:solidFill>
              <a:srgbClr val="00B4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A2"/>
                </a:solidFill>
              </a:rPr>
              <a:t>03 · CLOUDFLARE EDGE &amp; ZERO TRUST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Sécurité &amp; Distribution du Trafic Web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8503920" cy="1051560"/>
          </a:xfrm>
          <a:prstGeom prst="rect">
            <a:avLst/>
          </a:prstGeom>
          <a:solidFill>
            <a:srgbClr val="162233"/>
          </a:solidFill>
          <a:ln w="6350">
            <a:solidFill>
              <a:srgbClr val="00B4A2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4475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DNS Proxy Orange-Cloud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79222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8CC"/>
                </a:solidFill>
              </a:rPr>
              <a:t>Les enregistrements A sont «proxifiés». L'adresse IP réelle du serveur est totalement masquée. Le trafic mondial passe d'abord par le CDN de Cloudflare.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2542032"/>
            <a:ext cx="8503920" cy="1051560"/>
          </a:xfrm>
          <a:prstGeom prst="rect">
            <a:avLst/>
          </a:prstGeom>
          <a:solidFill>
            <a:srgbClr val="162233"/>
          </a:solidFill>
          <a:ln w="6350">
            <a:solidFill>
              <a:srgbClr val="00B4A2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1635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63347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SSL/TLS Edge (Terminaison)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298094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8CC"/>
                </a:solidFill>
              </a:rPr>
              <a:t>Les certificats cryptographiques sont gérés par Cloudflare. La terminaison SSL se fait en périphérie, réduisant drastiquement la charge CPU locale.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0040" y="3730752"/>
            <a:ext cx="8503920" cy="1051560"/>
          </a:xfrm>
          <a:prstGeom prst="rect">
            <a:avLst/>
          </a:prstGeom>
          <a:solidFill>
            <a:srgbClr val="162233"/>
          </a:solidFill>
          <a:ln w="6350">
            <a:solidFill>
              <a:srgbClr val="00B4A2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0507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8221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 Trust Access (wp-admin)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97280" y="416966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8CC"/>
                </a:solidFill>
              </a:rPr>
              <a:t>Les portails d'administration (/wp-admin) sont protégés par des politiques d'accès Cloudflare Zero Trust — vérification OTP ou SSO obligatoire avant affichage.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FF"/>
                </a:solidFill>
              </a:rPr>
              <a:t>04 · MICROSOFT EXCHANGE SERVER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Active Directory &amp; Infrastructure Mail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160520" cy="3474720"/>
          </a:xfrm>
          <a:prstGeom prst="rect">
            <a:avLst/>
          </a:prstGeom>
          <a:solidFill>
            <a:srgbClr val="1B2A40"/>
          </a:solidFill>
          <a:ln w="889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087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Active Directory (AD DS)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17627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1396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VM Windows Server déployée comme Contrôleur de Domaine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7432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27066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Forêt de domaine local établie (protechcorp.net)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1012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7240" y="327355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Gestion centralisée des identités et accès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77056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7240" y="38404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Intégration native avec Microsoft Exchange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4663440" y="1353312"/>
            <a:ext cx="4160520" cy="3474720"/>
          </a:xfrm>
          <a:prstGeom prst="rect">
            <a:avLst/>
          </a:prstGeom>
          <a:solidFill>
            <a:srgbClr val="1B2A40"/>
          </a:solidFill>
          <a:ln w="8890">
            <a:solidFill>
              <a:srgbClr val="00C2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508760"/>
            <a:ext cx="502920" cy="5029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4068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Microsoft Exchange Server</a:t>
            </a:r>
            <a:endParaRPr lang="en-US" sz="14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176272"/>
            <a:ext cx="256032" cy="25603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20640" y="21396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Installé et intégré à Active Directory</a:t>
            </a:r>
            <a:endParaRPr lang="en-US" sz="12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43200"/>
            <a:ext cx="256032" cy="25603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120640" y="27066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Héberge les boîtes aux lettres administratives</a:t>
            </a:r>
            <a:endParaRPr lang="en-US" sz="12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310128"/>
            <a:ext cx="256032" cy="25603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20640" y="327355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OWA (Outlook Web App) accessible à distance</a:t>
            </a:r>
            <a:endParaRPr lang="en-US" sz="12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877056"/>
            <a:ext cx="256032" cy="25603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120640" y="38404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Connecteur d'envoi vers SMTP2GO configuré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A2"/>
          </a:solidFill>
          <a:ln w="12700">
            <a:solidFill>
              <a:srgbClr val="00B4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A2"/>
                </a:solidFill>
              </a:rPr>
              <a:t>05 · PASSERELLE CLOUD WIREGUARD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Réseau Cryptographique OVH VPS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2377440"/>
          </a:xfrm>
          <a:prstGeom prst="rect">
            <a:avLst/>
          </a:prstGeom>
          <a:solidFill>
            <a:srgbClr val="1B2A40"/>
          </a:solidFill>
          <a:ln w="10160">
            <a:solidFill>
              <a:srgbClr val="00C2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4168" y="1508760"/>
            <a:ext cx="685800" cy="68580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591056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OVH VPS (Debian 13)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697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C"/>
                </a:solidFill>
              </a:rPr>
              <a:t>Hub WireGuard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CC"/>
                </a:solidFill>
              </a:rPr>
              <a:t>10.0.0.1/24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CC"/>
                </a:solidFill>
              </a:rPr>
              <a:t>UDP Port 51820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2487168"/>
            <a:ext cx="9144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63240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2FF"/>
                </a:solidFill>
              </a:rPr>
              <a:t>⟶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2743200" cy="2377440"/>
          </a:xfrm>
          <a:prstGeom prst="rect">
            <a:avLst/>
          </a:prstGeom>
          <a:solidFill>
            <a:srgbClr val="1B2A40"/>
          </a:solidFill>
          <a:ln w="1016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70248" y="1508760"/>
            <a:ext cx="685800" cy="685800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591056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Exchange Windows VM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2697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C"/>
                </a:solidFill>
              </a:rPr>
              <a:t>Pair WireGuard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CC"/>
                </a:solidFill>
              </a:rPr>
              <a:t>10.0.0.2/32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CC"/>
                </a:solidFill>
              </a:rPr>
              <a:t>Keepalive 25s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2487168"/>
            <a:ext cx="9144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89320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2FF"/>
                </a:solidFill>
              </a:rPr>
              <a:t>⟶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172200" y="1371600"/>
            <a:ext cx="2743200" cy="2377440"/>
          </a:xfrm>
          <a:prstGeom prst="rect">
            <a:avLst/>
          </a:prstGeom>
          <a:solidFill>
            <a:srgbClr val="1B2A40"/>
          </a:solidFill>
          <a:ln w="10160">
            <a:solidFill>
              <a:srgbClr val="00B4A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96328" y="1508760"/>
            <a:ext cx="685800" cy="685800"/>
          </a:xfrm>
          <a:prstGeom prst="ellipse">
            <a:avLst/>
          </a:prstGeom>
          <a:solidFill>
            <a:srgbClr val="00B4A2"/>
          </a:solidFill>
          <a:ln w="12700">
            <a:solidFill>
              <a:srgbClr val="00B4A2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1591056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Appareils Mobiles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63640" y="2697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C"/>
                </a:solidFill>
              </a:rPr>
              <a:t>Admin distant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CC"/>
                </a:solidFill>
              </a:rPr>
              <a:t>10.0.0.3/32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CC"/>
                </a:solidFill>
              </a:rPr>
              <a:t>Accès OWA sécurisé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0040" y="3931920"/>
            <a:ext cx="8503920" cy="868680"/>
          </a:xfrm>
          <a:prstGeom prst="rect">
            <a:avLst/>
          </a:prstGeom>
          <a:solidFill>
            <a:srgbClr val="162233"/>
          </a:solidFill>
          <a:ln w="6350">
            <a:solidFill>
              <a:srgbClr val="4F8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06908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78992" y="3977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Configuration Noyau Linux (OVH VPS)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78992" y="431596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C"/>
                </a:solidFill>
              </a:rPr>
              <a:t>net.ipv4.ip_forward=1  ·  Source NAT (Masquerade) via iptables sur interface ens3  ·  Traduction IP privée → IP publique OVH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</a:rPr>
              <a:t>06 · DÉFIS &amp; SOLUTIONS TECHNIQUES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Résolution des Problèmes d'Ingénierie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1508760"/>
          </a:xfrm>
          <a:prstGeom prst="rect">
            <a:avLst/>
          </a:prstGeom>
          <a:solidFill>
            <a:srgbClr val="1F0A0A"/>
          </a:solidFill>
          <a:ln w="762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813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4813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4444"/>
                </a:solidFill>
              </a:rPr>
              <a:t>PROBLÈME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5488" y="181051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Blocage ISP Port 25 + Mauvaise Réputation IP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26280" y="19202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4160520" cy="1508760"/>
          </a:xfrm>
          <a:prstGeom prst="rect">
            <a:avLst/>
          </a:prstGeom>
          <a:solidFill>
            <a:srgbClr val="031A14"/>
          </a:solidFill>
          <a:ln w="7620">
            <a:solidFill>
              <a:srgbClr val="00B4A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371600"/>
            <a:ext cx="54864" cy="1508760"/>
          </a:xfrm>
          <a:prstGeom prst="rect">
            <a:avLst/>
          </a:prstGeom>
          <a:solidFill>
            <a:srgbClr val="00B4A2"/>
          </a:solidFill>
          <a:ln w="12700">
            <a:solidFill>
              <a:srgbClr val="00B4A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48132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9512" y="14813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A2"/>
                </a:solidFill>
              </a:rPr>
              <a:t>SOLUTION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818888" y="181051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Architecture bifurquée : MX records → OVH VPS (entrant via tunnel WireGuard). Sortant via SMTP2GO Smart Host (port 2525/587) — gestion DKIM, réputation IP et livraison garantie.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3154680"/>
            <a:ext cx="4160520" cy="1508760"/>
          </a:xfrm>
          <a:prstGeom prst="rect">
            <a:avLst/>
          </a:prstGeom>
          <a:solidFill>
            <a:srgbClr val="1F0A0A"/>
          </a:solidFill>
          <a:ln w="762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3154680"/>
            <a:ext cx="54864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6440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" y="32644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4444"/>
                </a:solidFill>
              </a:rPr>
              <a:t>PROBLÈME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75488" y="359359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Split-Brain DNS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26280" y="37033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4663440" y="3154680"/>
            <a:ext cx="4160520" cy="1508760"/>
          </a:xfrm>
          <a:prstGeom prst="rect">
            <a:avLst/>
          </a:prstGeom>
          <a:solidFill>
            <a:srgbClr val="031A14"/>
          </a:solidFill>
          <a:ln w="7620">
            <a:solidFill>
              <a:srgbClr val="00B4A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3154680"/>
            <a:ext cx="54864" cy="1508760"/>
          </a:xfrm>
          <a:prstGeom prst="rect">
            <a:avLst/>
          </a:prstGeom>
          <a:solidFill>
            <a:srgbClr val="00B4A2"/>
          </a:solidFill>
          <a:ln w="12700">
            <a:solidFill>
              <a:srgbClr val="00B4A2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26440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39512" y="32644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A2"/>
                </a:solidFill>
              </a:rPr>
              <a:t>SOLUTION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818888" y="359359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DNS Split-Brain configuré sur le contrôleur AD DS local. Les zones internes résolvent protechcorp.net vers le sous-réseau 10.0.x.x. Les clients VPN utilisent automatiquement le DC comme résolveur DNS.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2FF"/>
                </a:solidFill>
              </a:rPr>
              <a:t>ARCHITECTURE GLOBALE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Vue Synthétique de l'Infrastructure Hybride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2651760" cy="1508760"/>
          </a:xfrm>
          <a:prstGeom prst="rect">
            <a:avLst/>
          </a:prstGeom>
          <a:solidFill>
            <a:srgbClr val="1B2A40"/>
          </a:solidFill>
          <a:ln w="8890">
            <a:solidFill>
              <a:srgbClr val="00C2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35608"/>
            <a:ext cx="594360" cy="59436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90472"/>
            <a:ext cx="484632" cy="48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46304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Datacenter Local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186537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C"/>
                </a:solidFill>
              </a:rPr>
              <a:t>i7-12700H · 32GB · 5TB NVMe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82112" y="1298448"/>
            <a:ext cx="2651760" cy="1508760"/>
          </a:xfrm>
          <a:prstGeom prst="rect">
            <a:avLst/>
          </a:prstGeom>
          <a:solidFill>
            <a:srgbClr val="1B2A40"/>
          </a:solidFill>
          <a:ln w="889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435608"/>
            <a:ext cx="594360" cy="5943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490472"/>
            <a:ext cx="484632" cy="4846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05072" y="146304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WordPress (LEMP)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005072" y="186537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C"/>
                </a:solidFill>
              </a:rPr>
              <a:t>Linux VM · Nginx · MariaDB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16752" y="1298448"/>
            <a:ext cx="2651760" cy="1508760"/>
          </a:xfrm>
          <a:prstGeom prst="rect">
            <a:avLst/>
          </a:prstGeom>
          <a:solidFill>
            <a:srgbClr val="1B2A40"/>
          </a:solidFill>
          <a:ln w="8890">
            <a:solidFill>
              <a:srgbClr val="00B4A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435608"/>
            <a:ext cx="594360" cy="594360"/>
          </a:xfrm>
          <a:prstGeom prst="ellipse">
            <a:avLst/>
          </a:prstGeom>
          <a:solidFill>
            <a:srgbClr val="00B4A2"/>
          </a:solidFill>
          <a:ln w="12700">
            <a:solidFill>
              <a:srgbClr val="00B4A2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490472"/>
            <a:ext cx="484632" cy="4846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39712" y="146304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Cloudflare Edge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839712" y="186537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C"/>
                </a:solidFill>
              </a:rPr>
              <a:t>CDN · SSL · Zero Trust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47472" y="2990088"/>
            <a:ext cx="2651760" cy="1508760"/>
          </a:xfrm>
          <a:prstGeom prst="rect">
            <a:avLst/>
          </a:prstGeom>
          <a:solidFill>
            <a:srgbClr val="1B2A40"/>
          </a:solidFill>
          <a:ln w="8890">
            <a:solidFill>
              <a:srgbClr val="4F8E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127248"/>
            <a:ext cx="594360" cy="594360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182112"/>
            <a:ext cx="484632" cy="4846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70432" y="315468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Exchange + AD DS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70432" y="355701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C"/>
                </a:solidFill>
              </a:rPr>
              <a:t>Windows VM · OWA · mailboxes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182112" y="2990088"/>
            <a:ext cx="2651760" cy="1508760"/>
          </a:xfrm>
          <a:prstGeom prst="rect">
            <a:avLst/>
          </a:prstGeom>
          <a:solidFill>
            <a:srgbClr val="1B2A40"/>
          </a:solidFill>
          <a:ln w="889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3127248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704" y="3182112"/>
            <a:ext cx="484632" cy="4846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05072" y="315468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WireGuard VPN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005072" y="355701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C"/>
                </a:solidFill>
              </a:rPr>
              <a:t>OVH VPS · 10.0.0.0/24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16752" y="2990088"/>
            <a:ext cx="2651760" cy="1508760"/>
          </a:xfrm>
          <a:prstGeom prst="rect">
            <a:avLst/>
          </a:prstGeom>
          <a:solidFill>
            <a:srgbClr val="1B2A40"/>
          </a:solidFill>
          <a:ln w="8890">
            <a:solidFill>
              <a:srgbClr val="00B4A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3127248"/>
            <a:ext cx="594360" cy="594360"/>
          </a:xfrm>
          <a:prstGeom prst="ellipse">
            <a:avLst/>
          </a:prstGeom>
          <a:solidFill>
            <a:srgbClr val="00B4A2"/>
          </a:solidFill>
          <a:ln w="12700">
            <a:solidFill>
              <a:srgbClr val="00B4A2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3182112"/>
            <a:ext cx="484632" cy="4846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39712" y="315468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SMTP2GO Relay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839712" y="355701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C"/>
                </a:solidFill>
              </a:rPr>
              <a:t>Livraison · DKIM · Réputation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B3A5C">
              <a:alpha val="5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B2A40">
              <a:alpha val="60000"/>
            </a:srgbClr>
          </a:solidFill>
          <a:ln w="12700">
            <a:solidFill>
              <a:srgbClr val="1B2A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2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Infrastructure Hybride de Niveau Entreprise</a:t>
            </a:r>
            <a:endParaRPr lang="en-US" sz="2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488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1214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Serveur web WordPress sécurisé, masqué derrière Cloudflare avec Zero Trust Access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71576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Microsoft Exchange opérationnel avec routage SMTP bifurqué (WireGuard + SMTP2GO)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3756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3101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Split-Brain DNS garantissant la continuité Autodiscover en et hors VPN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31920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90448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Architecture scalable, résiliente, entièrement documentée et reproductible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4617720"/>
            <a:ext cx="8229600" cy="22860"/>
          </a:xfrm>
          <a:prstGeom prst="rect">
            <a:avLst/>
          </a:prstGeom>
          <a:solidFill>
            <a:srgbClr val="1B2A40"/>
          </a:solidFill>
          <a:ln w="12700">
            <a:solidFill>
              <a:srgbClr val="1B2A4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57200" y="4690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C"/>
                </a:solidFill>
              </a:rPr>
              <a:t>Edris Ahmad DOST ·  Infrastructure On-Premise &amp; Hybrid-Cloud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665</Words>
  <Application>Microsoft Office PowerPoint</Application>
  <PresentationFormat>On-screen Show (16:9)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Configuration d'un Serveur WEB et Microsoft Exchange</dc:title>
  <dc:subject>PptxGenJS Presentation</dc:subject>
  <dc:creator>Edris</dc:creator>
  <cp:lastModifiedBy>Edris Dost</cp:lastModifiedBy>
  <cp:revision>2</cp:revision>
  <dcterms:created xsi:type="dcterms:W3CDTF">2026-04-30T09:26:17Z</dcterms:created>
  <dcterms:modified xsi:type="dcterms:W3CDTF">2026-04-30T17:43:42Z</dcterms:modified>
</cp:coreProperties>
</file>